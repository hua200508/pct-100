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4" r:id="rId3"/>
    <p:sldMasterId id="2147483675" r:id="rId4"/>
    <p:sldMasterId id="2147483677" r:id="rId5"/>
  </p:sldMasterIdLst>
  <p:notesMasterIdLst>
    <p:notesMasterId r:id="rId24"/>
  </p:notesMasterIdLst>
  <p:handoutMasterIdLst>
    <p:handoutMasterId r:id="rId25"/>
  </p:handoutMasterIdLst>
  <p:sldIdLst>
    <p:sldId id="530" r:id="rId6"/>
    <p:sldId id="575" r:id="rId7"/>
    <p:sldId id="1085" r:id="rId8"/>
    <p:sldId id="1086" r:id="rId9"/>
    <p:sldId id="1087" r:id="rId10"/>
    <p:sldId id="1088" r:id="rId11"/>
    <p:sldId id="1089" r:id="rId12"/>
    <p:sldId id="1077" r:id="rId13"/>
    <p:sldId id="1078" r:id="rId14"/>
    <p:sldId id="1079" r:id="rId15"/>
    <p:sldId id="1080" r:id="rId16"/>
    <p:sldId id="1081" r:id="rId17"/>
    <p:sldId id="1082" r:id="rId18"/>
    <p:sldId id="1083" r:id="rId19"/>
    <p:sldId id="1084" r:id="rId20"/>
    <p:sldId id="1074" r:id="rId21"/>
    <p:sldId id="1075" r:id="rId22"/>
    <p:sldId id="264" r:id="rId23"/>
  </p:sldIdLst>
  <p:sldSz cx="12192000" cy="6858000"/>
  <p:notesSz cx="7104063" cy="10234613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086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6F0FA"/>
    <a:srgbClr val="F1F7FC"/>
    <a:srgbClr val="5B9BD5"/>
    <a:srgbClr val="FFC000"/>
    <a:srgbClr val="BFD8EF"/>
    <a:srgbClr val="FFD964"/>
    <a:srgbClr val="FFC002"/>
    <a:srgbClr val="F4F5E9"/>
    <a:srgbClr val="FFC1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0" autoAdjust="0"/>
    <p:restoredTop sz="86374"/>
  </p:normalViewPr>
  <p:slideViewPr>
    <p:cSldViewPr snapToGrid="0" showGuides="1">
      <p:cViewPr varScale="1">
        <p:scale>
          <a:sx n="100" d="100"/>
          <a:sy n="100" d="100"/>
        </p:scale>
        <p:origin x="-1392" y="-76"/>
      </p:cViewPr>
      <p:guideLst>
        <p:guide orient="horz" pos="2086"/>
        <p:guide pos="38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898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84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volatile</a:t>
            </a:r>
            <a:r>
              <a:rPr lang="zh-CN" altLang="en-US" sz="13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关键字：可以让这个全局变量在编译时不会被优化掉，以至进入中断执行的操作对这个变量没有影响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71186-4ACA-43E4-A4DC-6DF218B2EEB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04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E48158-F478-4A77-89D7-A16DEC674BF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1A57E7BC-6743-4F2C-8989-94CF61DB2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36E31-3F78-4F84-A289-F849AE4B0E19}" type="datetime1">
              <a:rPr lang="zh-CN" altLang="en-US"/>
              <a:pPr>
                <a:defRPr/>
              </a:pPr>
              <a:t>2026/5/26</a:t>
            </a:fld>
            <a:endParaRPr lang="en-US" sz="833">
              <a:solidFill>
                <a:schemeClr val="tx1"/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898F12E1-F204-490B-ABE7-C53B245D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A76DF3BA-0F0A-4508-AD0D-85BA8899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F2AF0-7479-4AF5-95A0-64FC535EE5C3}" type="slidenum">
              <a:rPr lang="zh-CN" altLang="en-US"/>
              <a:pPr/>
              <a:t>‹#›</a:t>
            </a:fld>
            <a:endParaRPr lang="en-US" altLang="zh-CN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911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5.pn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ppt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ppt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ppt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ppt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630" y="200660"/>
            <a:ext cx="3613150" cy="460375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嵌入式开发实践课</a:t>
            </a:r>
            <a:endParaRPr lang="zh-CN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itle 6"/>
          <p:cNvSpPr txBox="1"/>
          <p:nvPr>
            <p:custDataLst>
              <p:tags r:id="rId1"/>
            </p:custDataLst>
          </p:nvPr>
        </p:nvSpPr>
        <p:spPr>
          <a:xfrm>
            <a:off x="1722473" y="1889125"/>
            <a:ext cx="8846289" cy="972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800"/>
              </a:spcBef>
              <a:buSzPct val="100000"/>
            </a:pPr>
            <a:r>
              <a:rPr lang="zh-CN" altLang="en-US" sz="5800" b="1" spc="600" dirty="0" smtClean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化工</a:t>
            </a:r>
            <a:r>
              <a:rPr lang="zh-CN" altLang="en-US" sz="5800" b="1" spc="60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装置</a:t>
            </a:r>
            <a:r>
              <a:rPr lang="zh-CN" altLang="en-US" sz="5800" b="1" spc="600" dirty="0" smtClean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lang="zh-CN" altLang="en-US" sz="5800" b="1" spc="600" dirty="0">
              <a:ln w="3175">
                <a:noFill/>
                <a:prstDash val="dash"/>
              </a:ln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Title 6"/>
          <p:cNvSpPr txBox="1"/>
          <p:nvPr>
            <p:custDataLst>
              <p:tags r:id="rId2"/>
            </p:custDataLst>
          </p:nvPr>
        </p:nvSpPr>
        <p:spPr>
          <a:xfrm>
            <a:off x="4581843" y="3085465"/>
            <a:ext cx="2823210" cy="68770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 b="1" spc="222" dirty="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开发与实践</a:t>
            </a:r>
          </a:p>
        </p:txBody>
      </p:sp>
      <p:sp>
        <p:nvSpPr>
          <p:cNvPr id="3" name="Title 6"/>
          <p:cNvSpPr txBox="1"/>
          <p:nvPr>
            <p:custDataLst>
              <p:tags r:id="rId3"/>
            </p:custDataLst>
          </p:nvPr>
        </p:nvSpPr>
        <p:spPr>
          <a:xfrm>
            <a:off x="390887" y="5081724"/>
            <a:ext cx="11635105" cy="155956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ctr" fontAlgn="auto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222" dirty="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主讲人</a:t>
            </a:r>
            <a:r>
              <a:rPr lang="zh-CN" altLang="en-US" sz="3200" b="1" spc="222" dirty="0" smtClean="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400" b="1" spc="222" dirty="0">
              <a:ln w="3175">
                <a:noFill/>
                <a:prstDash val="dash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ctr" fontAlgn="auto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ct val="100000"/>
              <a:buNone/>
            </a:pPr>
            <a:r>
              <a:rPr altLang="zh-CN" sz="2800" b="1" spc="222" dirty="0" smtClean="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2800" b="1" spc="222" dirty="0" smtClean="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altLang="zh-CN" sz="2800" b="1" spc="222" dirty="0" smtClean="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800" b="1" spc="222" dirty="0" smtClean="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endParaRPr lang="zh-CN" altLang="en-US" sz="2800" b="1" spc="222" dirty="0">
              <a:ln w="3175">
                <a:noFill/>
                <a:prstDash val="dash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630" y="200660"/>
            <a:ext cx="3416300" cy="460375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嵌入式开发实践课</a:t>
            </a:r>
            <a:endParaRPr lang="zh-CN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46259" y="1887292"/>
            <a:ext cx="2849146" cy="2849146"/>
            <a:chOff x="1494254" y="2703845"/>
            <a:chExt cx="901700" cy="901700"/>
          </a:xfrm>
        </p:grpSpPr>
        <p:sp>
          <p:nvSpPr>
            <p:cNvPr id="4" name="椭圆 3"/>
            <p:cNvSpPr/>
            <p:nvPr>
              <p:custDataLst>
                <p:tags r:id="rId2"/>
              </p:custDataLst>
            </p:nvPr>
          </p:nvSpPr>
          <p:spPr>
            <a:xfrm>
              <a:off x="1494254" y="2703845"/>
              <a:ext cx="901700" cy="901700"/>
            </a:xfrm>
            <a:prstGeom prst="ellipse">
              <a:avLst/>
            </a:prstGeom>
            <a:gradFill>
              <a:gsLst>
                <a:gs pos="6000">
                  <a:srgbClr val="1182E0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36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200000000000000" pitchFamily="18" charset="-122"/>
                <a:ea typeface="思源宋体 CN Heavy" panose="02020200000000000000" pitchFamily="18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519654" y="2925793"/>
              <a:ext cx="850900" cy="457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思源宋体 CN Heavy" panose="02020200000000000000" pitchFamily="18" charset="-122"/>
                </a:rPr>
                <a:t>05</a:t>
              </a:r>
              <a:endParaRPr kumimoji="0" lang="zh-CN" altLang="en-US" sz="8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思源宋体 CN Heavy" panose="02020200000000000000" pitchFamily="18" charset="-122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966970" y="2943225"/>
            <a:ext cx="6556375" cy="738664"/>
          </a:xfrm>
          <a:prstGeom prst="rect">
            <a:avLst/>
          </a:prstGeom>
          <a:noFill/>
          <a:effectLst>
            <a:glow rad="203200">
              <a:srgbClr val="FF0000">
                <a:alpha val="69000"/>
              </a:srgbClr>
            </a:glow>
          </a:effectLst>
        </p:spPr>
        <p:txBody>
          <a:bodyPr wrap="square" lIns="0" tIns="0" rIns="0" bIns="0" rtlCol="0">
            <a:spAutoFit/>
          </a:bodyPr>
          <a:lstStyle/>
          <a:p>
            <a:pPr algn="ctr" defTabSz="457200">
              <a:defRPr/>
            </a:pPr>
            <a:r>
              <a:rPr lang="zh-CN" altLang="en-US" sz="4800" dirty="0">
                <a:latin typeface="宋体" pitchFamily="2" charset="-122"/>
                <a:ea typeface="宋体" pitchFamily="2" charset="-122"/>
                <a:sym typeface="庞门正道标题体" panose="02010600030101010101" pitchFamily="2" charset="-122"/>
              </a:rPr>
              <a:t>外设驱动编写</a:t>
            </a:r>
            <a:endParaRPr lang="zh-CN" altLang="en-US" sz="4800" dirty="0">
              <a:solidFill>
                <a:schemeClr val="tx1"/>
              </a:solidFill>
              <a:latin typeface="宋体" pitchFamily="2" charset="-122"/>
              <a:ea typeface="宋体" pitchFamily="2" charset="-122"/>
              <a:sym typeface="庞门正道标题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9">
            <a:extLst>
              <a:ext uri="{FF2B5EF4-FFF2-40B4-BE49-F238E27FC236}">
                <a16:creationId xmlns="" xmlns:a16="http://schemas.microsoft.com/office/drawing/2014/main" id="{DD0A7914-9DAC-5A10-FF61-2AA42BC7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649" y="2647965"/>
            <a:ext cx="8278701" cy="102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277" tIns="17138" rIns="34277" bIns="1713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373"/>
              </a:spcBef>
              <a:defRPr/>
            </a:pPr>
            <a:r>
              <a:rPr lang="zh-CN" altLang="en-US" sz="48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中断</a:t>
            </a:r>
            <a:endParaRPr lang="en-US" altLang="zh-CN" sz="48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2376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E0829DC6-EA04-44D2-8A5C-E95F2E4E79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713" y="71526"/>
            <a:ext cx="1995959" cy="500049"/>
          </a:xfrm>
          <a:prstGeom prst="rect">
            <a:avLst/>
          </a:prstGeom>
        </p:spPr>
      </p:pic>
      <p:sp>
        <p:nvSpPr>
          <p:cNvPr id="2" name="矩形 39">
            <a:extLst>
              <a:ext uri="{FF2B5EF4-FFF2-40B4-BE49-F238E27FC236}">
                <a16:creationId xmlns:a16="http://schemas.microsoft.com/office/drawing/2014/main" xmlns="" id="{FAC21ED7-53AD-1AE6-1F4D-146DFF3FB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616" y="1598123"/>
            <a:ext cx="5782034" cy="366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，什么是中断（了解）</a:t>
            </a:r>
            <a:endParaRPr lang="en-US" altLang="zh-CN" sz="3200" b="1" dirty="0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，外部中断介绍（熟悉）</a:t>
            </a:r>
            <a:endParaRPr lang="en-US" altLang="zh-CN" sz="3200" b="1" dirty="0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，外部中断函数介绍（熟悉）</a:t>
            </a:r>
            <a:endParaRPr lang="en-US" altLang="zh-CN" sz="3200" b="1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，基础实验（掌握）</a:t>
            </a:r>
            <a:endParaRPr lang="en-US" altLang="zh-CN" sz="3200" b="1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5</a:t>
            </a:r>
            <a:r>
              <a:rPr lang="zh-CN" altLang="en-US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，项目实战（掌握）</a:t>
            </a:r>
            <a:endParaRPr lang="en-US" altLang="zh-CN" sz="3200" b="1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942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:a16="http://schemas.microsoft.com/office/drawing/2014/main" xmlns="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E0829DC6-EA04-44D2-8A5C-E95F2E4E79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713" y="71526"/>
            <a:ext cx="1995959" cy="50004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xmlns="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，什么是中断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246A3E96-56E1-D792-B4BB-17DD527F30BE}"/>
              </a:ext>
            </a:extLst>
          </p:cNvPr>
          <p:cNvSpPr/>
          <p:nvPr/>
        </p:nvSpPr>
        <p:spPr>
          <a:xfrm>
            <a:off x="569248" y="1079470"/>
            <a:ext cx="10917901" cy="588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让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打断正常程序的运行，转而处理紧急程序，就叫中断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2D9D1EE7-685A-4C55-B187-CF80ABFF230B}"/>
              </a:ext>
            </a:extLst>
          </p:cNvPr>
          <p:cNvSpPr/>
          <p:nvPr/>
        </p:nvSpPr>
        <p:spPr>
          <a:xfrm>
            <a:off x="5131945" y="4005602"/>
            <a:ext cx="1141979" cy="4175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上厕所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17EDE7A9-6AC2-45BD-8BAD-772F0BDF1565}"/>
              </a:ext>
            </a:extLst>
          </p:cNvPr>
          <p:cNvSpPr/>
          <p:nvPr/>
        </p:nvSpPr>
        <p:spPr>
          <a:xfrm>
            <a:off x="3691624" y="3129664"/>
            <a:ext cx="1444352" cy="46480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/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xmlns="" id="{FC8B9705-4F8B-466D-ADCA-5B4268F228D4}"/>
              </a:ext>
            </a:extLst>
          </p:cNvPr>
          <p:cNvSpPr/>
          <p:nvPr/>
        </p:nvSpPr>
        <p:spPr>
          <a:xfrm rot="16200000">
            <a:off x="5512333" y="1128269"/>
            <a:ext cx="180690" cy="3822101"/>
          </a:xfrm>
          <a:prstGeom prst="rightBrace">
            <a:avLst>
              <a:gd name="adj1" fmla="val 51608"/>
              <a:gd name="adj2" fmla="val 5091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/>
          </a:p>
        </p:txBody>
      </p:sp>
      <p:sp>
        <p:nvSpPr>
          <p:cNvPr id="11" name="文本框 22">
            <a:extLst>
              <a:ext uri="{FF2B5EF4-FFF2-40B4-BE49-F238E27FC236}">
                <a16:creationId xmlns:a16="http://schemas.microsoft.com/office/drawing/2014/main" xmlns="" id="{06756905-3AA7-4C95-8215-ABF84E271011}"/>
              </a:ext>
            </a:extLst>
          </p:cNvPr>
          <p:cNvSpPr txBox="1"/>
          <p:nvPr/>
        </p:nvSpPr>
        <p:spPr>
          <a:xfrm>
            <a:off x="4993804" y="2503713"/>
            <a:ext cx="1293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上课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xmlns="" id="{9A33BEA1-A1C5-404A-8AE2-51A778161B22}"/>
              </a:ext>
            </a:extLst>
          </p:cNvPr>
          <p:cNvCxnSpPr/>
          <p:nvPr/>
        </p:nvCxnSpPr>
        <p:spPr>
          <a:xfrm>
            <a:off x="5131946" y="3594474"/>
            <a:ext cx="0" cy="376064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xmlns="" id="{73FF2717-B51B-4CA1-B605-AC3E6592F6A8}"/>
              </a:ext>
            </a:extLst>
          </p:cNvPr>
          <p:cNvCxnSpPr>
            <a:cxnSpLocks/>
          </p:cNvCxnSpPr>
          <p:nvPr/>
        </p:nvCxnSpPr>
        <p:spPr>
          <a:xfrm rot="10800000">
            <a:off x="6279839" y="3594474"/>
            <a:ext cx="0" cy="376064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25">
            <a:extLst>
              <a:ext uri="{FF2B5EF4-FFF2-40B4-BE49-F238E27FC236}">
                <a16:creationId xmlns:a16="http://schemas.microsoft.com/office/drawing/2014/main" xmlns="" id="{1197C4CA-8EFC-49EA-BE44-4F43B8FB977C}"/>
              </a:ext>
            </a:extLst>
          </p:cNvPr>
          <p:cNvSpPr txBox="1"/>
          <p:nvPr/>
        </p:nvSpPr>
        <p:spPr>
          <a:xfrm>
            <a:off x="3691624" y="3983556"/>
            <a:ext cx="877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xmlns="" id="{8FCE44B9-911B-4EB4-8E71-4D568403A856}"/>
              </a:ext>
            </a:extLst>
          </p:cNvPr>
          <p:cNvCxnSpPr>
            <a:cxnSpLocks/>
            <a:stCxn id="14" idx="3"/>
            <a:endCxn id="4" idx="1"/>
          </p:cNvCxnSpPr>
          <p:nvPr/>
        </p:nvCxnSpPr>
        <p:spPr>
          <a:xfrm flipV="1">
            <a:off x="4568943" y="4214388"/>
            <a:ext cx="563002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665F296-E5BD-4B48-8F24-EC1BE5EB5D35}"/>
              </a:ext>
            </a:extLst>
          </p:cNvPr>
          <p:cNvSpPr/>
          <p:nvPr/>
        </p:nvSpPr>
        <p:spPr>
          <a:xfrm>
            <a:off x="5135394" y="3129664"/>
            <a:ext cx="1145027" cy="464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/>
          </a:p>
        </p:txBody>
      </p:sp>
      <p:sp>
        <p:nvSpPr>
          <p:cNvPr id="19" name="文本框 25">
            <a:extLst>
              <a:ext uri="{FF2B5EF4-FFF2-40B4-BE49-F238E27FC236}">
                <a16:creationId xmlns:a16="http://schemas.microsoft.com/office/drawing/2014/main" xmlns="" id="{5EE81C71-DF55-BD25-92BD-13B154BE58DD}"/>
              </a:ext>
            </a:extLst>
          </p:cNvPr>
          <p:cNvSpPr txBox="1"/>
          <p:nvPr/>
        </p:nvSpPr>
        <p:spPr>
          <a:xfrm>
            <a:off x="1819922" y="5547697"/>
            <a:ext cx="767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注意：中断要快进快出，否则影响主程序正常运行。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F92F01BD-979F-EEA3-73AC-8DFBECBA567A}"/>
              </a:ext>
            </a:extLst>
          </p:cNvPr>
          <p:cNvSpPr/>
          <p:nvPr/>
        </p:nvSpPr>
        <p:spPr>
          <a:xfrm>
            <a:off x="6282498" y="3129664"/>
            <a:ext cx="1234819" cy="46480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644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1" grpId="0"/>
      <p:bldP spid="14" grpId="0"/>
      <p:bldP spid="16" grpId="0" animBg="1"/>
      <p:bldP spid="19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:a16="http://schemas.microsoft.com/office/drawing/2014/main" xmlns="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E0829DC6-EA04-44D2-8A5C-E95F2E4E79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713" y="71526"/>
            <a:ext cx="1995959" cy="50004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xmlns="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，什么是中断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0CA46090-79A5-930C-F77A-2C2B84E6FF0C}"/>
              </a:ext>
            </a:extLst>
          </p:cNvPr>
          <p:cNvSpPr/>
          <p:nvPr/>
        </p:nvSpPr>
        <p:spPr>
          <a:xfrm>
            <a:off x="3747768" y="2627969"/>
            <a:ext cx="7920000" cy="1142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由外部设备的物理事件触发，比如按下按键、达到定时器的时间、数据到达串口。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5A9E33E8-790B-73C1-C517-02442E1552C6}"/>
              </a:ext>
            </a:extLst>
          </p:cNvPr>
          <p:cNvSpPr/>
          <p:nvPr/>
        </p:nvSpPr>
        <p:spPr>
          <a:xfrm>
            <a:off x="719583" y="756044"/>
            <a:ext cx="3366641" cy="671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中断的分类</a:t>
            </a:r>
            <a:endParaRPr lang="en-US" altLang="zh-CN" sz="2800" b="1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xmlns="" id="{7E1EEB6F-6E3F-3B57-2C4E-B8D182CE9F1D}"/>
              </a:ext>
            </a:extLst>
          </p:cNvPr>
          <p:cNvSpPr/>
          <p:nvPr/>
        </p:nvSpPr>
        <p:spPr>
          <a:xfrm>
            <a:off x="1299768" y="2928168"/>
            <a:ext cx="2448000" cy="54000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硬件中断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xmlns="" id="{C5C26492-AF19-BF72-2257-7C5026E1D34A}"/>
              </a:ext>
            </a:extLst>
          </p:cNvPr>
          <p:cNvSpPr/>
          <p:nvPr/>
        </p:nvSpPr>
        <p:spPr>
          <a:xfrm>
            <a:off x="1299768" y="4622576"/>
            <a:ext cx="2448000" cy="54000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软件中断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284A2C40-79EB-921C-E6DE-6A538D714F7A}"/>
              </a:ext>
            </a:extLst>
          </p:cNvPr>
          <p:cNvSpPr/>
          <p:nvPr/>
        </p:nvSpPr>
        <p:spPr>
          <a:xfrm>
            <a:off x="1299768" y="1814470"/>
            <a:ext cx="79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中断可以分为 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硬件中断 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 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软件中断 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684E72E4-2A2D-58E3-B018-D67F40A370B8}"/>
              </a:ext>
            </a:extLst>
          </p:cNvPr>
          <p:cNvSpPr/>
          <p:nvPr/>
        </p:nvSpPr>
        <p:spPr>
          <a:xfrm>
            <a:off x="3747768" y="4661743"/>
            <a:ext cx="79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由软件指令触发，通常用于复杂的处理任务。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933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  <p:bldP spid="21" grpId="0" animBg="1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:a16="http://schemas.microsoft.com/office/drawing/2014/main" xmlns="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E0829DC6-EA04-44D2-8A5C-E95F2E4E79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713" y="71526"/>
            <a:ext cx="1995959" cy="50004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xmlns="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，什么是中断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246A3E96-56E1-D792-B4BB-17DD527F30BE}"/>
              </a:ext>
            </a:extLst>
          </p:cNvPr>
          <p:cNvSpPr/>
          <p:nvPr/>
        </p:nvSpPr>
        <p:spPr>
          <a:xfrm>
            <a:off x="3398976" y="1969349"/>
            <a:ext cx="79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在确定时间内对相应事件作出响应，如：传感器数据监控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D814EE8D-7FB2-6043-49C7-E63BF1FEEA33}"/>
              </a:ext>
            </a:extLst>
          </p:cNvPr>
          <p:cNvSpPr/>
          <p:nvPr/>
        </p:nvSpPr>
        <p:spPr>
          <a:xfrm>
            <a:off x="719583" y="756044"/>
            <a:ext cx="3366641" cy="671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中断的作用和意义</a:t>
            </a:r>
            <a:endParaRPr lang="en-US" altLang="zh-CN" sz="2800" b="1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xmlns="" id="{5A7B826E-B650-A24B-C1F9-E26ED4F8AD49}"/>
              </a:ext>
            </a:extLst>
          </p:cNvPr>
          <p:cNvSpPr/>
          <p:nvPr/>
        </p:nvSpPr>
        <p:spPr>
          <a:xfrm>
            <a:off x="950976" y="1956816"/>
            <a:ext cx="2448000" cy="54000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实时控制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6ADCF567-72CB-EF64-C9D3-DA0C71A63A14}"/>
              </a:ext>
            </a:extLst>
          </p:cNvPr>
          <p:cNvSpPr/>
          <p:nvPr/>
        </p:nvSpPr>
        <p:spPr>
          <a:xfrm>
            <a:off x="950976" y="3031786"/>
            <a:ext cx="2448000" cy="54000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故障处理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xmlns="" id="{2866D155-F1C3-D019-D0EC-2878439C95E7}"/>
              </a:ext>
            </a:extLst>
          </p:cNvPr>
          <p:cNvSpPr/>
          <p:nvPr/>
        </p:nvSpPr>
        <p:spPr>
          <a:xfrm>
            <a:off x="950976" y="4106756"/>
            <a:ext cx="2448000" cy="54000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数据传输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C6B33125-A1BF-DC10-8309-9DE9CE9374E8}"/>
              </a:ext>
            </a:extLst>
          </p:cNvPr>
          <p:cNvSpPr/>
          <p:nvPr/>
        </p:nvSpPr>
        <p:spPr>
          <a:xfrm>
            <a:off x="3398975" y="3065922"/>
            <a:ext cx="79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检测到故障，需要第一时间处理，如：电梯门夹人了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D1616C5C-3EA7-780F-33FC-42B75F8AEF61}"/>
              </a:ext>
            </a:extLst>
          </p:cNvPr>
          <p:cNvSpPr/>
          <p:nvPr/>
        </p:nvSpPr>
        <p:spPr>
          <a:xfrm>
            <a:off x="3398975" y="4137045"/>
            <a:ext cx="79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不确定数据何时会来，如串口数据接收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509F33BC-363B-47CF-A049-BCA2CB708CA8}"/>
              </a:ext>
            </a:extLst>
          </p:cNvPr>
          <p:cNvSpPr/>
          <p:nvPr/>
        </p:nvSpPr>
        <p:spPr>
          <a:xfrm>
            <a:off x="950976" y="5483383"/>
            <a:ext cx="1036799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中断的意义：高效处理紧急程序，不会一直占用</a:t>
            </a:r>
            <a:r>
              <a:rPr lang="en-US" altLang="zh-CN" sz="24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 sz="2400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资源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22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 animBg="1"/>
      <p:bldP spid="19" grpId="0" animBg="1"/>
      <p:bldP spid="20" grpId="0" animBg="1"/>
      <p:bldP spid="21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22" y="1339408"/>
            <a:ext cx="8839200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2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，外部中断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介绍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246A3E96-56E1-D792-B4BB-17DD527F30BE}"/>
              </a:ext>
            </a:extLst>
          </p:cNvPr>
          <p:cNvSpPr/>
          <p:nvPr/>
        </p:nvSpPr>
        <p:spPr>
          <a:xfrm>
            <a:off x="521491" y="621863"/>
            <a:ext cx="86415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ESP32C3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的中断按中断来源可分为 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 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 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内部中断</a:t>
            </a:r>
            <a:endParaRPr lang="en-US" altLang="zh-CN" sz="240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911B860-DEF6-22E3-A275-11EC178830EA}"/>
              </a:ext>
            </a:extLst>
          </p:cNvPr>
          <p:cNvSpPr/>
          <p:nvPr/>
        </p:nvSpPr>
        <p:spPr>
          <a:xfrm>
            <a:off x="7164923" y="1339408"/>
            <a:ext cx="1969299" cy="900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6C4E8790-E6AE-7A46-302E-2F2EDD12573A}"/>
              </a:ext>
            </a:extLst>
          </p:cNvPr>
          <p:cNvSpPr/>
          <p:nvPr/>
        </p:nvSpPr>
        <p:spPr>
          <a:xfrm>
            <a:off x="9163049" y="1339408"/>
            <a:ext cx="27430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 sz="20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接收中断信号方式</a:t>
            </a:r>
            <a:endParaRPr lang="en-US" altLang="zh-CN" sz="20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B7BF21C9-904E-197F-C097-6B37DD7D44F5}"/>
              </a:ext>
            </a:extLst>
          </p:cNvPr>
          <p:cNvSpPr/>
          <p:nvPr/>
        </p:nvSpPr>
        <p:spPr>
          <a:xfrm>
            <a:off x="4280605" y="2322050"/>
            <a:ext cx="24905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外部中断源引发中断</a:t>
            </a:r>
            <a:endParaRPr lang="en-US" altLang="zh-CN" sz="20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0421D8A1-8C1E-4C08-0DDB-A2AE4B10CB15}"/>
              </a:ext>
            </a:extLst>
          </p:cNvPr>
          <p:cNvSpPr/>
          <p:nvPr/>
        </p:nvSpPr>
        <p:spPr>
          <a:xfrm>
            <a:off x="4191029" y="4424874"/>
            <a:ext cx="24905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 sz="20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内部产生的中断</a:t>
            </a:r>
            <a:endParaRPr lang="en-US" altLang="zh-CN" sz="20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99E23DFE-17A6-196F-E86B-00D786EBFE60}"/>
              </a:ext>
            </a:extLst>
          </p:cNvPr>
          <p:cNvSpPr/>
          <p:nvPr/>
        </p:nvSpPr>
        <p:spPr>
          <a:xfrm>
            <a:off x="521491" y="5443637"/>
            <a:ext cx="110509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是硬件中断的一种，由微控制器外部的事件触发。具有外部中断功能的引脚会对特定事件的发生做出响应。</a:t>
            </a:r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ESP32C3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所有引脚都可设置为外部中断引脚。</a:t>
            </a:r>
            <a:endParaRPr lang="en-US" altLang="zh-CN" sz="240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68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外部中断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介绍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="" xmlns:a16="http://schemas.microsoft.com/office/drawing/2014/main" id="{A9FB3DA6-D698-25EB-D72C-6F1A9EA6F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635952"/>
              </p:ext>
            </p:extLst>
          </p:nvPr>
        </p:nvGraphicFramePr>
        <p:xfrm>
          <a:off x="314910" y="696365"/>
          <a:ext cx="10199397" cy="601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4778">
                  <a:extLst>
                    <a:ext uri="{9D8B030D-6E8A-4147-A177-3AD203B41FA5}">
                      <a16:colId xmlns="" xmlns:a16="http://schemas.microsoft.com/office/drawing/2014/main" val="2551749343"/>
                    </a:ext>
                  </a:extLst>
                </a:gridCol>
                <a:gridCol w="5290619">
                  <a:extLst>
                    <a:ext uri="{9D8B030D-6E8A-4147-A177-3AD203B41FA5}">
                      <a16:colId xmlns="" xmlns:a16="http://schemas.microsoft.com/office/drawing/2014/main" val="3721164164"/>
                    </a:ext>
                  </a:extLst>
                </a:gridCol>
                <a:gridCol w="2844000">
                  <a:extLst>
                    <a:ext uri="{9D8B030D-6E8A-4147-A177-3AD203B41FA5}">
                      <a16:colId xmlns="" xmlns:a16="http://schemas.microsoft.com/office/drawing/2014/main" val="2980929089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zh-CN" sz="24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中断触发模式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4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说明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4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示意图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94511513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RISING</a:t>
                      </a:r>
                      <a:endParaRPr lang="zh-CN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上升沿触发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，即由低电平变高电平时触发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71887183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FALLING</a:t>
                      </a:r>
                      <a:endParaRPr lang="zh-CN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下降沿触发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，即由高电平变低电平时触发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42739486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CHANGE</a:t>
                      </a:r>
                      <a:endParaRPr lang="zh-CN" sz="200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电平变化触发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，即由高电平变低电平或由低电平变高电平时触发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13664956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ONLOW</a:t>
                      </a:r>
                      <a:endParaRPr lang="zh-CN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低电平触发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，即当前为低电平时触发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19198965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ONHIGH</a:t>
                      </a:r>
                      <a:endParaRPr lang="zh-CN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高电平触发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，即当前为高电平时触发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934003051"/>
                  </a:ext>
                </a:extLst>
              </a:tr>
            </a:tbl>
          </a:graphicData>
        </a:graphic>
      </p:graphicFrame>
      <p:pic>
        <p:nvPicPr>
          <p:cNvPr id="1029" name="Picture 5">
            <a:extLst>
              <a:ext uri="{FF2B5EF4-FFF2-40B4-BE49-F238E27FC236}">
                <a16:creationId xmlns="" xmlns:a16="http://schemas.microsoft.com/office/drawing/2014/main" id="{C4EDAE6A-72A7-7F2E-D677-A6B4BED67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410" y="1308040"/>
            <a:ext cx="1512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="" xmlns:a16="http://schemas.microsoft.com/office/drawing/2014/main" id="{44B73362-E590-497A-5A4C-52AC2256B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410" y="2390552"/>
            <a:ext cx="1494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="" xmlns:a16="http://schemas.microsoft.com/office/drawing/2014/main" id="{D63E964C-B39D-F591-07AB-67FA9A9A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3473064"/>
            <a:ext cx="1469508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9E1598EB-91A6-F383-69FC-CB727E114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066" y="4555576"/>
            <a:ext cx="139868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图片 1">
            <a:extLst>
              <a:ext uri="{FF2B5EF4-FFF2-40B4-BE49-F238E27FC236}">
                <a16:creationId xmlns="" xmlns:a16="http://schemas.microsoft.com/office/drawing/2014/main" id="{D21E0C2C-2BE6-B39F-4DED-13A4168E4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5638087"/>
            <a:ext cx="1469508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30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9">
            <a:extLst>
              <a:ext uri="{FF2B5EF4-FFF2-40B4-BE49-F238E27FC236}">
                <a16:creationId xmlns="" xmlns:a16="http://schemas.microsoft.com/office/drawing/2014/main" id="{FAC21ED7-53AD-1AE6-1F4D-146DFF3FB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616" y="1598123"/>
            <a:ext cx="5782034" cy="3000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，什么是中断（了解）</a:t>
            </a:r>
            <a:endParaRPr lang="en-US" altLang="zh-CN" sz="3200" b="1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3200" b="1" dirty="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，外部中断介绍（</a:t>
            </a:r>
            <a:r>
              <a:rPr lang="zh-CN" altLang="en-US" sz="3200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熟悉）</a:t>
            </a:r>
            <a:endParaRPr lang="en-US" altLang="zh-CN" sz="3200" b="1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，外部中断函数介绍（熟悉）</a:t>
            </a:r>
            <a:endParaRPr lang="en-US" altLang="zh-CN" sz="3200" b="1" dirty="0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，基础实验（掌握</a:t>
            </a:r>
            <a:r>
              <a:rPr lang="zh-CN" altLang="en-US" sz="3200" b="1" dirty="0" smtClean="0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en-US" altLang="zh-CN" sz="3200" b="1" dirty="0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0862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外部中断函数介绍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197613-F50D-53B7-73B3-136A90DAFDAA}"/>
              </a:ext>
            </a:extLst>
          </p:cNvPr>
          <p:cNvSpPr txBox="1"/>
          <p:nvPr/>
        </p:nvSpPr>
        <p:spPr>
          <a:xfrm>
            <a:off x="792010" y="1428054"/>
            <a:ext cx="9000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attachInterrupt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：外部中断的开启与初始化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detachInterrupt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：外部中断的关闭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CB57B264-7972-CBA3-44EE-A325C8437A3E}"/>
              </a:ext>
            </a:extLst>
          </p:cNvPr>
          <p:cNvSpPr txBox="1"/>
          <p:nvPr/>
        </p:nvSpPr>
        <p:spPr>
          <a:xfrm>
            <a:off x="792010" y="2954079"/>
            <a:ext cx="900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digitalPinToInterrupt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：在一些</a:t>
            </a:r>
            <a:r>
              <a:rPr lang="en-US" altLang="zh-CN" sz="2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arduino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开发板中需要使用，得到引脚对应的中断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编号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078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外部中断函数介绍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="" xmlns:a16="http://schemas.microsoft.com/office/drawing/2014/main" id="{D8519453-B804-4A64-D6AA-6940BE8C4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131634"/>
              </p:ext>
            </p:extLst>
          </p:nvPr>
        </p:nvGraphicFramePr>
        <p:xfrm>
          <a:off x="321233" y="712363"/>
          <a:ext cx="11404041" cy="59488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717117">
                  <a:extLst>
                    <a:ext uri="{9D8B030D-6E8A-4147-A177-3AD203B41FA5}">
                      <a16:colId xmlns="" xmlns:a16="http://schemas.microsoft.com/office/drawing/2014/main" val="3902147997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526972255"/>
                    </a:ext>
                  </a:extLst>
                </a:gridCol>
                <a:gridCol w="8467724">
                  <a:extLst>
                    <a:ext uri="{9D8B030D-6E8A-4147-A177-3AD203B41FA5}">
                      <a16:colId xmlns="" xmlns:a16="http://schemas.microsoft.com/office/drawing/2014/main" val="1091020668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函数介绍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303724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函数原型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void </a:t>
                      </a:r>
                      <a:r>
                        <a:rPr lang="en-US" altLang="zh-CN" sz="2000" dirty="0" err="1">
                          <a:solidFill>
                            <a:srgbClr val="FF000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attachInterrupt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(uint8_t 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pin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, </a:t>
                      </a:r>
                      <a:r>
                        <a:rPr lang="en-US" altLang="zh-CN" sz="2000" dirty="0" err="1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voidFuncPtr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</a:t>
                      </a:r>
                      <a:r>
                        <a:rPr lang="en-US" altLang="zh-CN" sz="2000" kern="12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handler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, int 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mode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)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258456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函数功能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指定外部中断，绑定中断回调函数，设置信号触发方式，开启外部中断功能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81903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返回值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22996491"/>
                  </a:ext>
                </a:extLst>
              </a:tr>
              <a:tr h="50400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参数说明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pin</a:t>
                      </a:r>
                      <a:endParaRPr lang="zh-CN" altLang="en-US" sz="2000" dirty="0">
                        <a:solidFill>
                          <a:srgbClr val="7030A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指定产生外部中断信号的引脚</a:t>
                      </a:r>
                      <a:endParaRPr lang="en-US" altLang="zh-CN" sz="2000" b="1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en-US" altLang="zh-CN" sz="2000" dirty="0" smtClean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ESP32C3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所有的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引脚都可以作为外部中断引脚使用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5736203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handler</a:t>
                      </a:r>
                      <a:endParaRPr lang="zh-CN" altLang="en-US" sz="2000" dirty="0">
                        <a:solidFill>
                          <a:srgbClr val="7030A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外部中断回调函数</a:t>
                      </a:r>
                      <a:endParaRPr lang="en-US" altLang="zh-CN" sz="2000" b="1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外部中断响应后，执行的中断服务函数；该函数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不带参数，无返回值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7274797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mode</a:t>
                      </a:r>
                      <a:endParaRPr lang="zh-CN" altLang="en-US" sz="2000" dirty="0">
                        <a:solidFill>
                          <a:srgbClr val="7030A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外部中断信号触发方式</a:t>
                      </a:r>
                      <a:endParaRPr lang="en-US" altLang="zh-CN" sz="2000" b="1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常用的有：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RISING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：上升沿触发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FALLING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：下降沿触发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CHANGE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：电平变化触发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ONLOW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：低电平触发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ONHIGH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：高电平触发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8089281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设计参考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将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GPIO0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引脚设置为外部中断引脚，下降沿触发，回调函数为 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io0_isr()</a:t>
                      </a:r>
                    </a:p>
                    <a:p>
                      <a:r>
                        <a:rPr lang="en-US" altLang="zh-CN" sz="2000" dirty="0" err="1">
                          <a:solidFill>
                            <a:srgbClr val="FF000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attachInterrupt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(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, 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io0_isr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, 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FALLING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28539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713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外部中断函数介绍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="" xmlns:a16="http://schemas.microsoft.com/office/drawing/2014/main" id="{D8519453-B804-4A64-D6AA-6940BE8C4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505123"/>
              </p:ext>
            </p:extLst>
          </p:nvPr>
        </p:nvGraphicFramePr>
        <p:xfrm>
          <a:off x="321233" y="712363"/>
          <a:ext cx="11404041" cy="33276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717117">
                  <a:extLst>
                    <a:ext uri="{9D8B030D-6E8A-4147-A177-3AD203B41FA5}">
                      <a16:colId xmlns="" xmlns:a16="http://schemas.microsoft.com/office/drawing/2014/main" val="3902147997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526972255"/>
                    </a:ext>
                  </a:extLst>
                </a:gridCol>
                <a:gridCol w="8467724">
                  <a:extLst>
                    <a:ext uri="{9D8B030D-6E8A-4147-A177-3AD203B41FA5}">
                      <a16:colId xmlns="" xmlns:a16="http://schemas.microsoft.com/office/drawing/2014/main" val="1091020668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函数介绍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303724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函数原型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void </a:t>
                      </a:r>
                      <a:r>
                        <a:rPr lang="en-US" altLang="zh-CN" sz="2000" dirty="0" err="1">
                          <a:solidFill>
                            <a:srgbClr val="FF000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detachInterrupt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(uint8_t 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pin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)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258456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函数功能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关闭指定引脚的外部中断功能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81903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返回值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229964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参数说明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pin</a:t>
                      </a:r>
                      <a:endParaRPr lang="zh-CN" altLang="en-US" sz="2000" dirty="0">
                        <a:solidFill>
                          <a:srgbClr val="7030A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数字引脚编号</a:t>
                      </a:r>
                      <a:endParaRPr lang="en-US" altLang="zh-CN" sz="2000" b="1" dirty="0">
                        <a:solidFill>
                          <a:schemeClr val="tx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，表示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GPIO0</a:t>
                      </a:r>
                    </a:p>
                    <a:p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，表示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GPIO3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57362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设计参考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将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GPIO0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引脚的外部中断功能关闭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r>
                        <a:rPr lang="en-US" altLang="zh-CN" sz="2000" dirty="0" err="1">
                          <a:solidFill>
                            <a:srgbClr val="FF000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detachInterrupt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(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28539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17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外部中断函数介绍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E90E66DF-20AF-58D8-CCF8-C0968F222AC0}"/>
              </a:ext>
            </a:extLst>
          </p:cNvPr>
          <p:cNvSpPr txBox="1"/>
          <p:nvPr/>
        </p:nvSpPr>
        <p:spPr>
          <a:xfrm>
            <a:off x="268228" y="717840"/>
            <a:ext cx="9000000" cy="671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Arduino</a:t>
            </a:r>
            <a:r>
              <a:rPr lang="zh-CN" altLang="en-US" sz="2800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中使用中断的注意事项</a:t>
            </a:r>
            <a:endParaRPr lang="en-US" altLang="zh-CN" sz="2800" b="1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752AF99A-AA5F-CBF9-5579-0A7DEC6F0CCD}"/>
              </a:ext>
            </a:extLst>
          </p:cNvPr>
          <p:cNvSpPr txBox="1"/>
          <p:nvPr/>
        </p:nvSpPr>
        <p:spPr>
          <a:xfrm>
            <a:off x="268228" y="1473683"/>
            <a:ext cx="11130701" cy="3358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尽量保证中断程序内容少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避免在中断服务函数中使用阻塞函数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(delay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函数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，使用非阻塞的延时方法来处理需要延迟的操作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en-US" altLang="zh-CN" sz="2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millis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函数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，以保证中的正常执行和系统稳定性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与主程序共享的变量要加上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volatile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关键字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 在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Arduino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中使用中断时，应尽量避免在中断处理函数中使用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Serial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对象的打印函数。否则会导致：时间延迟、缓冲区溢出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854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，基础实验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B797A8D8-71BE-0404-59F6-DF3A3C9304F3}"/>
              </a:ext>
            </a:extLst>
          </p:cNvPr>
          <p:cNvSpPr txBox="1"/>
          <p:nvPr/>
        </p:nvSpPr>
        <p:spPr>
          <a:xfrm>
            <a:off x="600302" y="740810"/>
            <a:ext cx="5001507" cy="671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外部中断实验</a:t>
            </a:r>
            <a:r>
              <a:rPr lang="zh-CN" altLang="en-US" sz="28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编程实战任务</a:t>
            </a:r>
            <a:endParaRPr lang="en-US" altLang="zh-CN" sz="28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3E8B9D8D-2A1F-7742-BC4F-EFFF8B514956}"/>
              </a:ext>
            </a:extLst>
          </p:cNvPr>
          <p:cNvSpPr txBox="1"/>
          <p:nvPr/>
        </p:nvSpPr>
        <p:spPr>
          <a:xfrm>
            <a:off x="600301" y="4716315"/>
            <a:ext cx="1113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GPIO21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引脚设置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</a:t>
            </a:r>
            <a:r>
              <a:rPr lang="zh-CN" altLang="en-US" sz="2400" dirty="0" smtClean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拉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按下</a:t>
            </a:r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KEY2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按键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产生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上升</a:t>
            </a:r>
            <a:r>
              <a:rPr lang="zh-CN" altLang="en-US" sz="2400" dirty="0" smtClean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沿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42AC33AC-68F7-9DE0-EE2B-FC4385CDDFDC}"/>
              </a:ext>
            </a:extLst>
          </p:cNvPr>
          <p:cNvSpPr txBox="1"/>
          <p:nvPr/>
        </p:nvSpPr>
        <p:spPr>
          <a:xfrm>
            <a:off x="600302" y="1742965"/>
            <a:ext cx="11340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通过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KEY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控制</a:t>
            </a:r>
            <a:r>
              <a:rPr lang="en-US" altLang="zh-CN" sz="2400" dirty="0" err="1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led_state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的状态翻转，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按下按键</a:t>
            </a:r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KEY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400" dirty="0" err="1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led_state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状态翻转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</a:t>
            </a:r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变</a:t>
            </a:r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或 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</a:t>
            </a:r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变</a:t>
            </a:r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endParaRPr lang="en-US" altLang="zh-CN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7" y="2565400"/>
            <a:ext cx="5343525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222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7" y="42184"/>
            <a:ext cx="5110075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中断基础实验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AB0D3128-912D-D6A9-78B2-ABE4A9B6E697}"/>
              </a:ext>
            </a:extLst>
          </p:cNvPr>
          <p:cNvSpPr/>
          <p:nvPr/>
        </p:nvSpPr>
        <p:spPr>
          <a:xfrm>
            <a:off x="3637810" y="901521"/>
            <a:ext cx="8284901" cy="595647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AE66E957-80A8-218E-B654-3FBC4D5818B9}"/>
              </a:ext>
            </a:extLst>
          </p:cNvPr>
          <p:cNvSpPr/>
          <p:nvPr/>
        </p:nvSpPr>
        <p:spPr>
          <a:xfrm>
            <a:off x="8393005" y="1075386"/>
            <a:ext cx="3341795" cy="4468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 "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exti.h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 "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key.h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</a:p>
          <a:p>
            <a:r>
              <a:rPr lang="en-US" altLang="zh-CN" sz="1400" dirty="0"/>
              <a:t/>
            </a:r>
            <a:br>
              <a:rPr lang="en-US" altLang="zh-CN" sz="1400" dirty="0"/>
            </a:b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uint8_t 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led_state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      </a:t>
            </a:r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 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exti_init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(void) </a:t>
            </a: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key_init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                             </a:t>
            </a:r>
            <a:r>
              <a:rPr lang="en-US" altLang="zh-CN" sz="1100" dirty="0" err="1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attachInterrupt</a:t>
            </a:r>
            <a:r>
              <a:rPr lang="en-US" altLang="zh-CN" sz="11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dirty="0" err="1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digitalPinToInterrupt</a:t>
            </a:r>
            <a:r>
              <a:rPr lang="en-US" altLang="zh-CN" sz="11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(KEY_INT_PIN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key_isr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RISING</a:t>
            </a:r>
            <a:r>
              <a:rPr lang="en-US" altLang="zh-CN" sz="11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/* </a:t>
            </a:r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设置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</a:t>
            </a:r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引脚为中断引脚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下降沿触发 *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endParaRPr lang="zh-CN" altLang="en-US" sz="1100" dirty="0">
              <a:solidFill>
                <a:srgbClr val="728E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CN" altLang="en-US" sz="1100" dirty="0">
              <a:solidFill>
                <a:srgbClr val="728E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 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key_isr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(void)</a:t>
            </a: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delay(10);</a:t>
            </a: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if (KEY == 0)</a:t>
            </a: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led_state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=! </a:t>
            </a:r>
            <a:r>
              <a:rPr lang="en-US" altLang="zh-CN" sz="11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led_state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 </a:t>
            </a:r>
            <a:r>
              <a:rPr lang="en-US" altLang="zh-CN" sz="11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 </a:t>
            </a:r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两种情况：从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变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，从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变为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 */</a:t>
            </a:r>
            <a:endParaRPr lang="zh-CN" altLang="en-US" sz="1100" dirty="0">
              <a:solidFill>
                <a:srgbClr val="728E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CN" altLang="en-US" sz="1100" dirty="0">
              <a:solidFill>
                <a:srgbClr val="728E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CN" sz="11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CN" altLang="en-US" sz="1400" dirty="0"/>
          </a:p>
          <a:p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1168B6D-CEBA-2DAA-D628-69D895563ECC}"/>
              </a:ext>
            </a:extLst>
          </p:cNvPr>
          <p:cNvSpPr/>
          <p:nvPr/>
        </p:nvSpPr>
        <p:spPr>
          <a:xfrm>
            <a:off x="181646" y="901522"/>
            <a:ext cx="2129754" cy="47246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 "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key.h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 "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exti.h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 setup() </a:t>
            </a:r>
          </a:p>
          <a:p>
            <a:r>
              <a:rPr lang="en-US" altLang="zh-CN" sz="14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exti_init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 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400" dirty="0" err="1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Serial.begin</a:t>
            </a:r>
            <a:r>
              <a:rPr lang="en-US" altLang="zh-CN" sz="14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(115200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 loop() 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Serial.println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 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led_state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); 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200" dirty="0"/>
              <a:t/>
            </a:r>
            <a:br>
              <a:rPr lang="en-US" altLang="zh-CN" sz="1200" dirty="0"/>
            </a:br>
            <a:endParaRPr lang="en-US" altLang="zh-CN" sz="1200" dirty="0"/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F0987061-CB9D-C279-A961-863CC702DDD6}"/>
              </a:ext>
            </a:extLst>
          </p:cNvPr>
          <p:cNvSpPr/>
          <p:nvPr/>
        </p:nvSpPr>
        <p:spPr>
          <a:xfrm>
            <a:off x="3838760" y="1077262"/>
            <a:ext cx="4419954" cy="4466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ifndef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__KEY_H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#define __KEY_H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 "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Arduino.h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 </a:t>
            </a:r>
            <a:r>
              <a:rPr lang="zh-CN" altLang="en-US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引脚定义 *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endParaRPr lang="zh-CN" altLang="en-US" sz="1400" dirty="0">
              <a:solidFill>
                <a:srgbClr val="728E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#define KEY_PIN       21  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 </a:t>
            </a:r>
            <a:r>
              <a:rPr lang="zh-CN" altLang="en-US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宏函数定义 *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endParaRPr lang="zh-CN" altLang="en-US" sz="1400" dirty="0">
              <a:solidFill>
                <a:srgbClr val="728E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#define </a:t>
            </a:r>
            <a:r>
              <a:rPr lang="en-US" altLang="zh-CN" sz="14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 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</a:t>
            </a:r>
            <a:r>
              <a:rPr lang="en-US" altLang="zh-CN" sz="1400" dirty="0" smtClean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digitalRead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(KEY_PIN)  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 </a:t>
            </a:r>
            <a:r>
              <a:rPr lang="zh-CN" altLang="en-US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函数声明 *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endParaRPr lang="zh-CN" altLang="en-US" sz="1400" dirty="0">
              <a:solidFill>
                <a:srgbClr val="728E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 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key_init</a:t>
            </a: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(void);     </a:t>
            </a:r>
          </a:p>
          <a:p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altLang="zh-CN" sz="1400" dirty="0" err="1">
                <a:solidFill>
                  <a:srgbClr val="728E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endif</a:t>
            </a:r>
            <a:endParaRPr lang="en-US" altLang="zh-CN" sz="1400" dirty="0">
              <a:solidFill>
                <a:srgbClr val="728E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51392578-E095-27BC-E8F1-3F6B1BEC70BF}"/>
              </a:ext>
            </a:extLst>
          </p:cNvPr>
          <p:cNvSpPr txBox="1"/>
          <p:nvPr/>
        </p:nvSpPr>
        <p:spPr>
          <a:xfrm>
            <a:off x="6228356" y="6218724"/>
            <a:ext cx="3103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2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模块化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52A72E63-46F4-B6E4-EBC5-40DADA539410}"/>
              </a:ext>
            </a:extLst>
          </p:cNvPr>
          <p:cNvSpPr txBox="1"/>
          <p:nvPr/>
        </p:nvSpPr>
        <p:spPr>
          <a:xfrm>
            <a:off x="9210116" y="5544006"/>
            <a:ext cx="189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exti.cpp</a:t>
            </a:r>
            <a:endParaRPr lang="zh-CN" altLang="en-US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F14043A9-9899-5415-CC09-8492C12ECC38}"/>
              </a:ext>
            </a:extLst>
          </p:cNvPr>
          <p:cNvSpPr txBox="1"/>
          <p:nvPr/>
        </p:nvSpPr>
        <p:spPr>
          <a:xfrm>
            <a:off x="5149402" y="5544006"/>
            <a:ext cx="189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exti.h</a:t>
            </a:r>
            <a:endParaRPr lang="zh-CN" altLang="en-US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B30D52C5-73BC-6158-273F-5E5F8C770D7A}"/>
              </a:ext>
            </a:extLst>
          </p:cNvPr>
          <p:cNvSpPr txBox="1"/>
          <p:nvPr/>
        </p:nvSpPr>
        <p:spPr>
          <a:xfrm>
            <a:off x="241915" y="6214056"/>
            <a:ext cx="189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key</a:t>
            </a:r>
            <a:r>
              <a:rPr lang="en-US" altLang="zh-CN" sz="2400" dirty="0" err="1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.ino</a:t>
            </a:r>
            <a:endParaRPr lang="zh-CN" altLang="en-US" sz="2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箭头: 左 23">
            <a:extLst>
              <a:ext uri="{FF2B5EF4-FFF2-40B4-BE49-F238E27FC236}">
                <a16:creationId xmlns="" xmlns:a16="http://schemas.microsoft.com/office/drawing/2014/main" id="{27AB7542-7615-0934-E9E2-57CA1E23D884}"/>
              </a:ext>
            </a:extLst>
          </p:cNvPr>
          <p:cNvSpPr/>
          <p:nvPr/>
        </p:nvSpPr>
        <p:spPr>
          <a:xfrm>
            <a:off x="2355850" y="2899566"/>
            <a:ext cx="1281960" cy="57591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F0987061-CB9D-C279-A961-863CC702DDD6}"/>
              </a:ext>
            </a:extLst>
          </p:cNvPr>
          <p:cNvSpPr/>
          <p:nvPr/>
        </p:nvSpPr>
        <p:spPr>
          <a:xfrm>
            <a:off x="3838760" y="5922359"/>
            <a:ext cx="1359640" cy="831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key.cpp</a:t>
            </a:r>
          </a:p>
          <a:p>
            <a:pPr algn="ctr"/>
            <a:r>
              <a:rPr lang="en-US" altLang="zh-CN" sz="1400" dirty="0" err="1" smtClean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key.h</a:t>
            </a:r>
            <a:endParaRPr lang="zh-CN" altLang="en-US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711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D6670EA8-DFBB-4D75-8A80-725A21BDD676}"/>
              </a:ext>
            </a:extLst>
          </p:cNvPr>
          <p:cNvSpPr/>
          <p:nvPr/>
        </p:nvSpPr>
        <p:spPr>
          <a:xfrm>
            <a:off x="3000375" y="0"/>
            <a:ext cx="2790825" cy="571575"/>
          </a:xfrm>
          <a:prstGeom prst="parallelogram">
            <a:avLst>
              <a:gd name="adj" fmla="val 9082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77EAA8B-D206-4357-96EC-32C6EAB53364}"/>
              </a:ext>
            </a:extLst>
          </p:cNvPr>
          <p:cNvSpPr/>
          <p:nvPr/>
        </p:nvSpPr>
        <p:spPr>
          <a:xfrm>
            <a:off x="0" y="0"/>
            <a:ext cx="3824748" cy="5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38692D-9ED8-4F18-923A-B778E45415A8}"/>
              </a:ext>
            </a:extLst>
          </p:cNvPr>
          <p:cNvSpPr/>
          <p:nvPr/>
        </p:nvSpPr>
        <p:spPr>
          <a:xfrm>
            <a:off x="39328" y="42184"/>
            <a:ext cx="4494572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5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扩展实验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D02654FF-4E33-EA6D-ED30-9DB97FA87803}"/>
              </a:ext>
            </a:extLst>
          </p:cNvPr>
          <p:cNvSpPr txBox="1"/>
          <p:nvPr/>
        </p:nvSpPr>
        <p:spPr>
          <a:xfrm>
            <a:off x="1161278" y="1045610"/>
            <a:ext cx="4375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按键控制</a:t>
            </a:r>
            <a:r>
              <a:rPr lang="zh-CN" altLang="en-US" sz="28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继电器</a:t>
            </a:r>
            <a:r>
              <a:rPr lang="zh-CN" altLang="en-US" sz="2800" dirty="0" smtClean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开关实验</a:t>
            </a:r>
            <a:endParaRPr lang="en-US" altLang="zh-CN" sz="280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1278" y="2959616"/>
            <a:ext cx="10160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+mn-ea"/>
              </a:rPr>
              <a:t>自锁按键</a:t>
            </a:r>
            <a:r>
              <a:rPr lang="en-US" altLang="zh-CN" sz="2400" dirty="0" smtClean="0">
                <a:latin typeface="+mn-ea"/>
              </a:rPr>
              <a:t>KEY1</a:t>
            </a:r>
            <a:r>
              <a:rPr lang="zh-CN" altLang="en-US" sz="2400" dirty="0" smtClean="0">
                <a:latin typeface="+mn-ea"/>
              </a:rPr>
              <a:t>为总开关，</a:t>
            </a:r>
            <a:r>
              <a:rPr lang="en-US" altLang="zh-CN" sz="2400" dirty="0">
                <a:latin typeface="+mn-ea"/>
              </a:rPr>
              <a:t> KEY1</a:t>
            </a:r>
            <a:r>
              <a:rPr lang="zh-CN" altLang="en-US" sz="2400" dirty="0" smtClean="0">
                <a:latin typeface="+mn-ea"/>
              </a:rPr>
              <a:t>打开后，</a:t>
            </a:r>
            <a:r>
              <a:rPr lang="en-US" altLang="zh-CN" sz="2400" dirty="0" smtClean="0">
                <a:latin typeface="+mn-ea"/>
              </a:rPr>
              <a:t>KEY2</a:t>
            </a:r>
            <a:r>
              <a:rPr lang="zh-CN" altLang="en-US" sz="2400" dirty="0" smtClean="0">
                <a:latin typeface="+mn-ea"/>
              </a:rPr>
              <a:t>控制继电器的开启和关闭，按一下开启，再按一下关闭，依次循环，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dirty="0" smtClean="0">
                <a:latin typeface="+mn-ea"/>
              </a:rPr>
              <a:t>KEY1</a:t>
            </a:r>
            <a:r>
              <a:rPr lang="zh-CN" altLang="en-US" sz="2400" dirty="0">
                <a:latin typeface="+mn-ea"/>
              </a:rPr>
              <a:t>关闭</a:t>
            </a:r>
            <a:r>
              <a:rPr lang="zh-CN" altLang="en-US" sz="2400" dirty="0" smtClean="0">
                <a:latin typeface="+mn-ea"/>
              </a:rPr>
              <a:t>后，继电器关闭。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文本框 1">
            <a:extLst>
              <a:ext uri="{FF2B5EF4-FFF2-40B4-BE49-F238E27FC236}">
                <a16:creationId xmlns="" xmlns:a16="http://schemas.microsoft.com/office/drawing/2014/main" id="{D02654FF-4E33-EA6D-ED30-9DB97FA87803}"/>
              </a:ext>
            </a:extLst>
          </p:cNvPr>
          <p:cNvSpPr txBox="1"/>
          <p:nvPr/>
        </p:nvSpPr>
        <p:spPr>
          <a:xfrm>
            <a:off x="1256528" y="2150510"/>
            <a:ext cx="4007622" cy="57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实验内容</a:t>
            </a:r>
            <a:r>
              <a:rPr lang="en-US" altLang="zh-CN" sz="2400" b="1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  <a:endParaRPr lang="en-US" altLang="zh-CN" sz="2400" b="1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0757" y="4297918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同学们自主</a:t>
            </a:r>
            <a:r>
              <a:rPr lang="zh-CN" altLang="en-US" b="1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完成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9472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7630" y="148590"/>
            <a:ext cx="3416300" cy="460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嵌入式开发实践课</a:t>
            </a:r>
            <a:endParaRPr lang="zh-CN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2126,3312447]}"/>
  <p:tag name="COMMONDATA" val="eyJoZGlkIjoiYTJkNzM5OTMyMTVkMjQ0MjAyYzk3YzU2NmJkOGM0Y2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封面大标题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1_200*a*1"/>
  <p:tag name="KSO_WM_TEMPLATE_CATEGORY" val="mixed"/>
  <p:tag name="KSO_WM_TEMPLATE_INDEX" val="20201881"/>
  <p:tag name="KSO_WM_UNIT_LAYERLEVEL" val="1"/>
  <p:tag name="KSO_WM_TAG_VERSION" val="1.0"/>
  <p:tag name="KSO_WM_BEAUTIFY_FLAG" val=""/>
  <p:tag name="KSO_WM_UNIT_TEXTBOXSTYLE_GUID" val="{755ee579-cbf4-4c9c-8509-8a3704cb4b2a}"/>
  <p:tag name="KSO_WM_UNIT_TEXTBOXSTYLE_TEMPLATEID" val="3130777"/>
  <p:tag name="KSO_WM_UNIT_TEXTBOXSTYLE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小标题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147*f*1"/>
  <p:tag name="KSO_WM_TEMPLATE_CATEGORY" val="mixed"/>
  <p:tag name="KSO_WM_TEMPLATE_INDEX" val="20201885"/>
  <p:tag name="KSO_WM_UNIT_LAYERLEVEL" val="1"/>
  <p:tag name="KSO_WM_TAG_VERSION" val="1.0"/>
  <p:tag name="KSO_WM_BEAUTIFY_FLAG" val=""/>
  <p:tag name="KSO_WM_UNIT_TEXTBOXSTYLE_GUID" val="{d996ee61-5b36-4869-b255-14d75ba0af2e}"/>
  <p:tag name="KSO_WM_UNIT_TEXTBOXSTYLE_TEMPLATEID" val="3133189"/>
  <p:tag name="KSO_WM_UNIT_TEXTBOXSTYLE_TYPE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小标题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147*f*1"/>
  <p:tag name="KSO_WM_TEMPLATE_CATEGORY" val="mixed"/>
  <p:tag name="KSO_WM_TEMPLATE_INDEX" val="20201885"/>
  <p:tag name="KSO_WM_UNIT_LAYERLEVEL" val="1"/>
  <p:tag name="KSO_WM_TAG_VERSION" val="1.0"/>
  <p:tag name="KSO_WM_BEAUTIFY_FLAG" val=""/>
  <p:tag name="KSO_WM_UNIT_TEXTBOXSTYLE_GUID" val="{d996ee61-5b36-4869-b255-14d75ba0af2e}"/>
  <p:tag name="KSO_WM_UNIT_TEXTBOXSTYLE_TEMPLATEID" val="3133189"/>
  <p:tag name="KSO_WM_UNIT_TEXTBOXSTYLE_TYPE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05.7761"/>
  <p:tag name="LEFT" val="173.0257"/>
  <p:tag name="WIDTH" val="632.3657"/>
  <p:tag name="HEIGHT" val="116.325"/>
  <p:tag name="FONTSIZE" val="96"/>
  <p:tag name="MARGINBOTTOM" val="0"/>
  <p:tag name="MARGINLEFT" val="0"/>
  <p:tag name="MARGINRIGHT" val="0"/>
  <p:tag name="MARGINTOP" val="0"/>
  <p:tag name="LINERULEAFTER" val="0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903</Words>
  <Application>Microsoft Office PowerPoint</Application>
  <PresentationFormat>自定义</PresentationFormat>
  <Paragraphs>169</Paragraphs>
  <Slides>18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Office 主题​​</vt:lpstr>
      <vt:lpstr>1_自定义设计方案</vt:lpstr>
      <vt:lpstr>自定义设计方案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1340</cp:revision>
  <dcterms:created xsi:type="dcterms:W3CDTF">2024-08-19T06:51:00Z</dcterms:created>
  <dcterms:modified xsi:type="dcterms:W3CDTF">2026-05-26T08:40:55Z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0CB7589BA1754B750B24BC66D6DE8142_43</vt:lpwstr>
  </property>
</Properties>
</file>